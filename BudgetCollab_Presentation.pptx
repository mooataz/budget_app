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D738D6-7146-4C32-8846-94E29BC68C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6B995B-5B7B-4FB7-970A-5FBD83BB3F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BC31FA-64D7-4ADC-961B-E7D045615E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C0ED26-9CCF-4AFA-944B-27A3280BB7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B59CA8-08CC-4098-9E35-DD0B021DDA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167AC6-D775-49ED-9D6E-E9BE67A4C1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04A4BA-FF9D-4FD7-9BE9-93D21B1DB4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F12E86-6E4A-4DBC-8102-42DC357430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69B0E7-6911-4613-8894-7FDDC65BA4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CC0C49-DFF2-4DA6-9E32-E9D887C012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4FB1F9-CF6F-416C-8674-BED09F5423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2743200"/>
            <a:ext cx="1219140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914400" y="13716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BudgetCollab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914400" y="23774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Application Collaborative de Gestion de Budget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914400" y="3200400"/>
            <a:ext cx="10058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914400" y="4114800"/>
            <a:ext cx="45716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Présenté par : [Hamdi Boutiti et Moaataz Jlassi]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914400" y="4572000"/>
            <a:ext cx="45716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Encadrant : [Saffar Hela]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914400" y="50292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Mai 2026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914400" y="59436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github.com/Mooataz/budget_app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45720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SOMMAIRE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371600" y="1645920"/>
            <a:ext cx="73148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1.  Contexte et objectifs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2.  Analyse des besoins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3.  Architecture et conception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4.  Technologies utilisées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5.  Fonctionnalités implémentées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6.  Sécurité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7.  Limitations et perspectives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8.  Conclusion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1. CONTEXTE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371600" y="1645920"/>
            <a:ext cx="9143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La gestion budgétaire personnelle et collective est essentielle au quotidien.</a:t>
            </a:r>
            <a:br>
              <a:rPr sz="1800"/>
            </a:b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Les outils existants sont souvent trop complexes, peu collaboratifs ou inadaptés.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371600" y="3657600"/>
            <a:ext cx="9143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→ Familles, colocataires, équipes : besoin de suivi partagé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→ Absence de solution simple, sécurisée et collaborative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→ Objectif : application web complète de gestion budgétaire collaborative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OBJECTIFS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914400" y="1828800"/>
            <a:ext cx="255996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914400" y="1828800"/>
            <a:ext cx="25599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1188720" y="210312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01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1188720" y="274320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Authentification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sécurisée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91440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Inscription, connexion,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protection CSRF, bcrypt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9"/>
          <p:cNvSpPr/>
          <p:nvPr/>
        </p:nvSpPr>
        <p:spPr>
          <a:xfrm>
            <a:off x="3749040" y="1828800"/>
            <a:ext cx="255996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10"/>
          <p:cNvSpPr/>
          <p:nvPr/>
        </p:nvSpPr>
        <p:spPr>
          <a:xfrm>
            <a:off x="3749040" y="1828800"/>
            <a:ext cx="255996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4023360" y="210312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02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4023360" y="274320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Suivi des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transactions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374904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Revenus / Dépenses,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catégorisation, CRUD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4"/>
          <p:cNvSpPr/>
          <p:nvPr/>
        </p:nvSpPr>
        <p:spPr>
          <a:xfrm>
            <a:off x="6583680" y="1828800"/>
            <a:ext cx="255996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5"/>
          <p:cNvSpPr/>
          <p:nvPr/>
        </p:nvSpPr>
        <p:spPr>
          <a:xfrm>
            <a:off x="6583680" y="1828800"/>
            <a:ext cx="25599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6858000" y="210312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03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6858000" y="274320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Budgets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individuels/partagés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8"/>
          <p:cNvSpPr/>
          <p:nvPr/>
        </p:nvSpPr>
        <p:spPr>
          <a:xfrm>
            <a:off x="658368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Collaboration multi-utilisateurs,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invitations, alertes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9"/>
          <p:cNvSpPr/>
          <p:nvPr/>
        </p:nvSpPr>
        <p:spPr>
          <a:xfrm>
            <a:off x="9418320" y="1828800"/>
            <a:ext cx="255996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20"/>
          <p:cNvSpPr/>
          <p:nvPr/>
        </p:nvSpPr>
        <p:spPr>
          <a:xfrm>
            <a:off x="9418320" y="1828800"/>
            <a:ext cx="255996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9692640" y="210312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04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9692640" y="274320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Tableau de bord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et graphiques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941832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KPIs, Chart.js,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visualisations intuitives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2. BESOINS FONCTIONNELS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914400" y="1645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914400" y="164592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1188720" y="1920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🔐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1188720" y="2468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Authentification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1188720" y="2926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Inscription, connexion,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profil, rôles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9"/>
          <p:cNvSpPr/>
          <p:nvPr/>
        </p:nvSpPr>
        <p:spPr>
          <a:xfrm>
            <a:off x="3657600" y="1645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0"/>
          <p:cNvSpPr/>
          <p:nvPr/>
        </p:nvSpPr>
        <p:spPr>
          <a:xfrm>
            <a:off x="3657600" y="1645920"/>
            <a:ext cx="347436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1"/>
          <p:cNvSpPr/>
          <p:nvPr/>
        </p:nvSpPr>
        <p:spPr>
          <a:xfrm>
            <a:off x="3931920" y="1920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💳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3931920" y="2468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Transactions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3931920" y="2926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CRUD revenus/dépenses,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catégories, budgets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4"/>
          <p:cNvSpPr/>
          <p:nvPr/>
        </p:nvSpPr>
        <p:spPr>
          <a:xfrm>
            <a:off x="6400800" y="1645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5"/>
          <p:cNvSpPr/>
          <p:nvPr/>
        </p:nvSpPr>
        <p:spPr>
          <a:xfrm>
            <a:off x="6400800" y="164592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6675120" y="1920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💰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7"/>
          <p:cNvSpPr/>
          <p:nvPr/>
        </p:nvSpPr>
        <p:spPr>
          <a:xfrm>
            <a:off x="6675120" y="2468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Budgets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8"/>
          <p:cNvSpPr/>
          <p:nvPr/>
        </p:nvSpPr>
        <p:spPr>
          <a:xfrm>
            <a:off x="6675120" y="2926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Individuels/partagés,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plafonds, progression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9"/>
          <p:cNvSpPr/>
          <p:nvPr/>
        </p:nvSpPr>
        <p:spPr>
          <a:xfrm>
            <a:off x="9144000" y="1645920"/>
            <a:ext cx="297180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20"/>
          <p:cNvSpPr/>
          <p:nvPr/>
        </p:nvSpPr>
        <p:spPr>
          <a:xfrm>
            <a:off x="9144000" y="1645920"/>
            <a:ext cx="297180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1"/>
          <p:cNvSpPr/>
          <p:nvPr/>
        </p:nvSpPr>
        <p:spPr>
          <a:xfrm>
            <a:off x="9418320" y="1920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📊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2"/>
          <p:cNvSpPr/>
          <p:nvPr/>
        </p:nvSpPr>
        <p:spPr>
          <a:xfrm>
            <a:off x="9418320" y="2468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Dashboard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3"/>
          <p:cNvSpPr/>
          <p:nvPr/>
        </p:nvSpPr>
        <p:spPr>
          <a:xfrm>
            <a:off x="9418320" y="2926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KPIs, graphiques,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 filtres période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24"/>
          <p:cNvSpPr/>
          <p:nvPr/>
        </p:nvSpPr>
        <p:spPr>
          <a:xfrm>
            <a:off x="91440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5"/>
          <p:cNvSpPr/>
          <p:nvPr/>
        </p:nvSpPr>
        <p:spPr>
          <a:xfrm>
            <a:off x="914400" y="3931920"/>
            <a:ext cx="3474360" cy="54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6"/>
          <p:cNvSpPr/>
          <p:nvPr/>
        </p:nvSpPr>
        <p:spPr>
          <a:xfrm>
            <a:off x="118872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06464"/>
                </a:solidFill>
                <a:effectLst/>
                <a:uFillTx/>
                <a:latin typeface="Calibri"/>
              </a:rPr>
              <a:t>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7"/>
          <p:cNvSpPr/>
          <p:nvPr/>
        </p:nvSpPr>
        <p:spPr>
          <a:xfrm>
            <a:off x="118872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Alertes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8"/>
          <p:cNvSpPr/>
          <p:nvPr/>
        </p:nvSpPr>
        <p:spPr>
          <a:xfrm>
            <a:off x="118872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Seuils 80% / 100%,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 notifications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29"/>
          <p:cNvSpPr/>
          <p:nvPr/>
        </p:nvSpPr>
        <p:spPr>
          <a:xfrm>
            <a:off x="365760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30"/>
          <p:cNvSpPr/>
          <p:nvPr/>
        </p:nvSpPr>
        <p:spPr>
          <a:xfrm>
            <a:off x="3657600" y="3931920"/>
            <a:ext cx="3474360" cy="5436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31"/>
          <p:cNvSpPr/>
          <p:nvPr/>
        </p:nvSpPr>
        <p:spPr>
          <a:xfrm>
            <a:off x="393192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👥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2"/>
          <p:cNvSpPr/>
          <p:nvPr/>
        </p:nvSpPr>
        <p:spPr>
          <a:xfrm>
            <a:off x="393192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Collaboratif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3"/>
          <p:cNvSpPr/>
          <p:nvPr/>
        </p:nvSpPr>
        <p:spPr>
          <a:xfrm>
            <a:off x="393192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Invitations, membres,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 budgets partagés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34"/>
          <p:cNvSpPr/>
          <p:nvPr/>
        </p:nvSpPr>
        <p:spPr>
          <a:xfrm>
            <a:off x="640080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35"/>
          <p:cNvSpPr/>
          <p:nvPr/>
        </p:nvSpPr>
        <p:spPr>
          <a:xfrm>
            <a:off x="6400800" y="3931920"/>
            <a:ext cx="347436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6"/>
          <p:cNvSpPr/>
          <p:nvPr/>
        </p:nvSpPr>
        <p:spPr>
          <a:xfrm>
            <a:off x="667512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🛡️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7"/>
          <p:cNvSpPr/>
          <p:nvPr/>
        </p:nvSpPr>
        <p:spPr>
          <a:xfrm>
            <a:off x="667512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Administration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8"/>
          <p:cNvSpPr/>
          <p:nvPr/>
        </p:nvSpPr>
        <p:spPr>
          <a:xfrm>
            <a:off x="667512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Validation comptes,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 statistiques globales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BESOINS NON FONCTIONNELS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ounded Rectangle 4"/>
          <p:cNvSpPr/>
          <p:nvPr/>
        </p:nvSpPr>
        <p:spPr>
          <a:xfrm>
            <a:off x="914400" y="20116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914400" y="201168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1188720" y="22860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1188720" y="28346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Sécurité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1188720" y="3291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Protection injection SQL,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XSS, CSRF, bcrypt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9"/>
          <p:cNvSpPr/>
          <p:nvPr/>
        </p:nvSpPr>
        <p:spPr>
          <a:xfrm>
            <a:off x="3657600" y="20116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3657600" y="2011680"/>
            <a:ext cx="347436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3931920" y="22860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3931920" y="28346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Performance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3"/>
          <p:cNvSpPr/>
          <p:nvPr/>
        </p:nvSpPr>
        <p:spPr>
          <a:xfrm>
            <a:off x="3931920" y="3291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Requêtes optimisées,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temps de réponse &lt; 2s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4"/>
          <p:cNvSpPr/>
          <p:nvPr/>
        </p:nvSpPr>
        <p:spPr>
          <a:xfrm>
            <a:off x="6400800" y="20116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15"/>
          <p:cNvSpPr/>
          <p:nvPr/>
        </p:nvSpPr>
        <p:spPr>
          <a:xfrm>
            <a:off x="6400800" y="201168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6675120" y="22860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6675120" y="28346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Maintenabilité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6675120" y="3291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Architecture MVC 3 couches,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DAO, Service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9"/>
          <p:cNvSpPr/>
          <p:nvPr/>
        </p:nvSpPr>
        <p:spPr>
          <a:xfrm>
            <a:off x="9144000" y="2011680"/>
            <a:ext cx="274320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20"/>
          <p:cNvSpPr/>
          <p:nvPr/>
        </p:nvSpPr>
        <p:spPr>
          <a:xfrm>
            <a:off x="9144000" y="2011680"/>
            <a:ext cx="274320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9418320" y="22860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2"/>
          <p:cNvSpPr/>
          <p:nvPr/>
        </p:nvSpPr>
        <p:spPr>
          <a:xfrm>
            <a:off x="9418320" y="28346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Utilisabilité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9418320" y="3291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Interface responsive,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dark mode, icônes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3. ARCHITECTURE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4"/>
          <p:cNvSpPr/>
          <p:nvPr/>
        </p:nvSpPr>
        <p:spPr>
          <a:xfrm>
            <a:off x="1371600" y="914400"/>
            <a:ext cx="9417960" cy="9140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5"/>
          <p:cNvSpPr/>
          <p:nvPr/>
        </p:nvSpPr>
        <p:spPr>
          <a:xfrm>
            <a:off x="1371600" y="914400"/>
            <a:ext cx="9417960" cy="45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1828800" y="10515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4114800" y="10515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Vues PHP  ·  CSS  ·  JavaScript  ·  Chart.js  ·  Lucide Icons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8"/>
          <p:cNvSpPr/>
          <p:nvPr/>
        </p:nvSpPr>
        <p:spPr>
          <a:xfrm>
            <a:off x="1371600" y="2103120"/>
            <a:ext cx="9417960" cy="9140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9"/>
          <p:cNvSpPr/>
          <p:nvPr/>
        </p:nvSpPr>
        <p:spPr>
          <a:xfrm>
            <a:off x="1371600" y="2103120"/>
            <a:ext cx="9417960" cy="45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1828800" y="22402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Contrôleurs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1"/>
          <p:cNvSpPr/>
          <p:nvPr/>
        </p:nvSpPr>
        <p:spPr>
          <a:xfrm>
            <a:off x="4114800" y="22402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Auth · Dashboard · Transaction · Budget · Catégorie · Alerte · Admin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2"/>
          <p:cNvSpPr/>
          <p:nvPr/>
        </p:nvSpPr>
        <p:spPr>
          <a:xfrm>
            <a:off x="1371600" y="3291840"/>
            <a:ext cx="9417960" cy="9140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13"/>
          <p:cNvSpPr/>
          <p:nvPr/>
        </p:nvSpPr>
        <p:spPr>
          <a:xfrm>
            <a:off x="1371600" y="3291840"/>
            <a:ext cx="9417960" cy="45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1828800" y="34290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Services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5"/>
          <p:cNvSpPr/>
          <p:nvPr/>
        </p:nvSpPr>
        <p:spPr>
          <a:xfrm>
            <a:off x="4114800" y="34290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Auth · Transaction · Budget · Dashboard · Alerte · Admin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6"/>
          <p:cNvSpPr/>
          <p:nvPr/>
        </p:nvSpPr>
        <p:spPr>
          <a:xfrm>
            <a:off x="1371600" y="4480560"/>
            <a:ext cx="9417960" cy="9140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17"/>
          <p:cNvSpPr/>
          <p:nvPr/>
        </p:nvSpPr>
        <p:spPr>
          <a:xfrm>
            <a:off x="1371600" y="4480560"/>
            <a:ext cx="9417960" cy="45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8"/>
          <p:cNvSpPr/>
          <p:nvPr/>
        </p:nvSpPr>
        <p:spPr>
          <a:xfrm>
            <a:off x="1828800" y="46177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9"/>
          <p:cNvSpPr/>
          <p:nvPr/>
        </p:nvSpPr>
        <p:spPr>
          <a:xfrm>
            <a:off x="4114800" y="46177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Utilisateur · Transaction · Budget · Catégorie · Alerte · MembreBudget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20"/>
          <p:cNvSpPr/>
          <p:nvPr/>
        </p:nvSpPr>
        <p:spPr>
          <a:xfrm>
            <a:off x="1371600" y="5669280"/>
            <a:ext cx="9417960" cy="9140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1"/>
          <p:cNvSpPr/>
          <p:nvPr/>
        </p:nvSpPr>
        <p:spPr>
          <a:xfrm>
            <a:off x="1371600" y="5669280"/>
            <a:ext cx="9417960" cy="45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2"/>
          <p:cNvSpPr/>
          <p:nvPr/>
        </p:nvSpPr>
        <p:spPr>
          <a:xfrm>
            <a:off x="1828800" y="5806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Base de données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3"/>
          <p:cNvSpPr/>
          <p:nvPr/>
        </p:nvSpPr>
        <p:spPr>
          <a:xfrm>
            <a:off x="4114800" y="58064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MySQL 8 · InnoDB · 7 tables · Clés étrangères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4"/>
          <p:cNvSpPr/>
          <p:nvPr/>
        </p:nvSpPr>
        <p:spPr>
          <a:xfrm>
            <a:off x="5486400" y="2011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▼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5"/>
          <p:cNvSpPr/>
          <p:nvPr/>
        </p:nvSpPr>
        <p:spPr>
          <a:xfrm>
            <a:off x="5486400" y="32004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▼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6"/>
          <p:cNvSpPr/>
          <p:nvPr/>
        </p:nvSpPr>
        <p:spPr>
          <a:xfrm>
            <a:off x="5486400" y="43891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▼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7"/>
          <p:cNvSpPr/>
          <p:nvPr/>
        </p:nvSpPr>
        <p:spPr>
          <a:xfrm>
            <a:off x="5486400" y="55778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▼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8"/>
          <p:cNvSpPr/>
          <p:nvPr/>
        </p:nvSpPr>
        <p:spPr>
          <a:xfrm>
            <a:off x="1371600" y="640080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Front Controller : public/index.php → Routeur → Contrôleur → Service → DAO → MySQL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BASE DE DONNÉES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ed Rectangle 4"/>
          <p:cNvSpPr/>
          <p:nvPr/>
        </p:nvSpPr>
        <p:spPr>
          <a:xfrm>
            <a:off x="1097280" y="1645920"/>
            <a:ext cx="3291480" cy="18284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5"/>
          <p:cNvSpPr/>
          <p:nvPr/>
        </p:nvSpPr>
        <p:spPr>
          <a:xfrm>
            <a:off x="1097280" y="1645920"/>
            <a:ext cx="329148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137160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7"/>
          <p:cNvSpPr/>
          <p:nvPr/>
        </p:nvSpPr>
        <p:spPr>
          <a:xfrm>
            <a:off x="1371600" y="246888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id, nom, email,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mdp_hash, rôle, statut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8"/>
          <p:cNvSpPr/>
          <p:nvPr/>
        </p:nvSpPr>
        <p:spPr>
          <a:xfrm>
            <a:off x="4754880" y="1645920"/>
            <a:ext cx="3291480" cy="18284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9"/>
          <p:cNvSpPr/>
          <p:nvPr/>
        </p:nvSpPr>
        <p:spPr>
          <a:xfrm>
            <a:off x="4754880" y="1645920"/>
            <a:ext cx="329148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502920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transactions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5029200" y="246888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id, montant, type,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date, description, FK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2"/>
          <p:cNvSpPr/>
          <p:nvPr/>
        </p:nvSpPr>
        <p:spPr>
          <a:xfrm>
            <a:off x="8412480" y="1645920"/>
            <a:ext cx="3291480" cy="18284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13"/>
          <p:cNvSpPr/>
          <p:nvPr/>
        </p:nvSpPr>
        <p:spPr>
          <a:xfrm>
            <a:off x="8412480" y="1645920"/>
            <a:ext cx="329148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8686800" y="1920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budgets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8686800" y="246888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id, nom, plafond,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période, type, FK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6"/>
          <p:cNvSpPr/>
          <p:nvPr/>
        </p:nvSpPr>
        <p:spPr>
          <a:xfrm>
            <a:off x="1097280" y="3931920"/>
            <a:ext cx="3291480" cy="18284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17"/>
          <p:cNvSpPr/>
          <p:nvPr/>
        </p:nvSpPr>
        <p:spPr>
          <a:xfrm>
            <a:off x="1097280" y="3931920"/>
            <a:ext cx="329148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8"/>
          <p:cNvSpPr/>
          <p:nvPr/>
        </p:nvSpPr>
        <p:spPr>
          <a:xfrm>
            <a:off x="1371600" y="4206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categories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9"/>
          <p:cNvSpPr/>
          <p:nvPr/>
        </p:nvSpPr>
        <p:spPr>
          <a:xfrm>
            <a:off x="1371600" y="475488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id, nom, icône,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est_defaut, FK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20"/>
          <p:cNvSpPr/>
          <p:nvPr/>
        </p:nvSpPr>
        <p:spPr>
          <a:xfrm>
            <a:off x="4754880" y="3931920"/>
            <a:ext cx="3291480" cy="18284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21"/>
          <p:cNvSpPr/>
          <p:nvPr/>
        </p:nvSpPr>
        <p:spPr>
          <a:xfrm>
            <a:off x="4754880" y="3931920"/>
            <a:ext cx="3291480" cy="54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22"/>
          <p:cNvSpPr/>
          <p:nvPr/>
        </p:nvSpPr>
        <p:spPr>
          <a:xfrm>
            <a:off x="5029200" y="4206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budget_members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3"/>
          <p:cNvSpPr/>
          <p:nvPr/>
        </p:nvSpPr>
        <p:spPr>
          <a:xfrm>
            <a:off x="5029200" y="475488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budget_id, user_id,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rôle, statut, token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24"/>
          <p:cNvSpPr/>
          <p:nvPr/>
        </p:nvSpPr>
        <p:spPr>
          <a:xfrm>
            <a:off x="8412480" y="3931920"/>
            <a:ext cx="3291480" cy="18284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25"/>
          <p:cNvSpPr/>
          <p:nvPr/>
        </p:nvSpPr>
        <p:spPr>
          <a:xfrm>
            <a:off x="8412480" y="3931920"/>
            <a:ext cx="3291480" cy="5436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26"/>
          <p:cNvSpPr/>
          <p:nvPr/>
        </p:nvSpPr>
        <p:spPr>
          <a:xfrm>
            <a:off x="8686800" y="42062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alertes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7"/>
          <p:cNvSpPr/>
          <p:nvPr/>
        </p:nvSpPr>
        <p:spPr>
          <a:xfrm>
            <a:off x="8686800" y="475488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id, niveau, message,</a:t>
            </a:r>
            <a:br>
              <a:rPr sz="1300"/>
            </a:br>
            <a:r>
              <a:rPr b="0" lang="en-US" sz="13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lue, FK budget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4. TECHNOLOGIES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ounded Rectangle 4"/>
          <p:cNvSpPr/>
          <p:nvPr/>
        </p:nvSpPr>
        <p:spPr>
          <a:xfrm>
            <a:off x="73152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5"/>
          <p:cNvSpPr/>
          <p:nvPr/>
        </p:nvSpPr>
        <p:spPr>
          <a:xfrm>
            <a:off x="731520" y="155448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6"/>
          <p:cNvSpPr/>
          <p:nvPr/>
        </p:nvSpPr>
        <p:spPr>
          <a:xfrm>
            <a:off x="100584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🐘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100584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PHP 8+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100584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Orienté objet, PDO,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bcrypt, sans framework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9"/>
          <p:cNvSpPr/>
          <p:nvPr/>
        </p:nvSpPr>
        <p:spPr>
          <a:xfrm>
            <a:off x="356616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10"/>
          <p:cNvSpPr/>
          <p:nvPr/>
        </p:nvSpPr>
        <p:spPr>
          <a:xfrm>
            <a:off x="3566160" y="1554480"/>
            <a:ext cx="347436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384048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🗄️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2"/>
          <p:cNvSpPr/>
          <p:nvPr/>
        </p:nvSpPr>
        <p:spPr>
          <a:xfrm>
            <a:off x="384048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MySQL 8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3"/>
          <p:cNvSpPr/>
          <p:nvPr/>
        </p:nvSpPr>
        <p:spPr>
          <a:xfrm>
            <a:off x="384048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InnoDB, utf8mb4,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clés étrangères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4"/>
          <p:cNvSpPr/>
          <p:nvPr/>
        </p:nvSpPr>
        <p:spPr>
          <a:xfrm>
            <a:off x="640080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15"/>
          <p:cNvSpPr/>
          <p:nvPr/>
        </p:nvSpPr>
        <p:spPr>
          <a:xfrm>
            <a:off x="6400800" y="155448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6"/>
          <p:cNvSpPr/>
          <p:nvPr/>
        </p:nvSpPr>
        <p:spPr>
          <a:xfrm>
            <a:off x="667512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📜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7"/>
          <p:cNvSpPr/>
          <p:nvPr/>
        </p:nvSpPr>
        <p:spPr>
          <a:xfrm>
            <a:off x="66751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JavaScript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8"/>
          <p:cNvSpPr/>
          <p:nvPr/>
        </p:nvSpPr>
        <p:spPr>
          <a:xfrm>
            <a:off x="667512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ES6+, Fetch API,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DOM manipulation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19"/>
          <p:cNvSpPr/>
          <p:nvPr/>
        </p:nvSpPr>
        <p:spPr>
          <a:xfrm>
            <a:off x="923544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20"/>
          <p:cNvSpPr/>
          <p:nvPr/>
        </p:nvSpPr>
        <p:spPr>
          <a:xfrm>
            <a:off x="9235440" y="1554480"/>
            <a:ext cx="347436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1"/>
          <p:cNvSpPr/>
          <p:nvPr/>
        </p:nvSpPr>
        <p:spPr>
          <a:xfrm>
            <a:off x="950976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🎨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2"/>
          <p:cNvSpPr/>
          <p:nvPr/>
        </p:nvSpPr>
        <p:spPr>
          <a:xfrm>
            <a:off x="950976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HTML5 / CSS3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3"/>
          <p:cNvSpPr/>
          <p:nvPr/>
        </p:nvSpPr>
        <p:spPr>
          <a:xfrm>
            <a:off x="950976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Responsive, dark mode,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Flexbox / Grid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24"/>
          <p:cNvSpPr/>
          <p:nvPr/>
        </p:nvSpPr>
        <p:spPr>
          <a:xfrm>
            <a:off x="73152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25"/>
          <p:cNvSpPr/>
          <p:nvPr/>
        </p:nvSpPr>
        <p:spPr>
          <a:xfrm>
            <a:off x="731520" y="3931920"/>
            <a:ext cx="3474360" cy="54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26"/>
          <p:cNvSpPr/>
          <p:nvPr/>
        </p:nvSpPr>
        <p:spPr>
          <a:xfrm>
            <a:off x="100584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06464"/>
                </a:solidFill>
                <a:effectLst/>
                <a:uFillTx/>
                <a:latin typeface="Calibri"/>
              </a:rPr>
              <a:t>📊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7"/>
          <p:cNvSpPr/>
          <p:nvPr/>
        </p:nvSpPr>
        <p:spPr>
          <a:xfrm>
            <a:off x="100584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Chart.js 4.4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8"/>
          <p:cNvSpPr/>
          <p:nvPr/>
        </p:nvSpPr>
        <p:spPr>
          <a:xfrm>
            <a:off x="100584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Graphiques line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et doughnut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29"/>
          <p:cNvSpPr/>
          <p:nvPr/>
        </p:nvSpPr>
        <p:spPr>
          <a:xfrm>
            <a:off x="356616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30"/>
          <p:cNvSpPr/>
          <p:nvPr/>
        </p:nvSpPr>
        <p:spPr>
          <a:xfrm>
            <a:off x="3566160" y="3931920"/>
            <a:ext cx="3474360" cy="5436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31"/>
          <p:cNvSpPr/>
          <p:nvPr/>
        </p:nvSpPr>
        <p:spPr>
          <a:xfrm>
            <a:off x="384048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🔤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2"/>
          <p:cNvSpPr/>
          <p:nvPr/>
        </p:nvSpPr>
        <p:spPr>
          <a:xfrm>
            <a:off x="384048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Lucide Icons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3"/>
          <p:cNvSpPr/>
          <p:nvPr/>
        </p:nvSpPr>
        <p:spPr>
          <a:xfrm>
            <a:off x="384048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Icônes SVG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vectorielles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34"/>
          <p:cNvSpPr/>
          <p:nvPr/>
        </p:nvSpPr>
        <p:spPr>
          <a:xfrm>
            <a:off x="640080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35"/>
          <p:cNvSpPr/>
          <p:nvPr/>
        </p:nvSpPr>
        <p:spPr>
          <a:xfrm>
            <a:off x="6400800" y="3931920"/>
            <a:ext cx="347436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6"/>
          <p:cNvSpPr/>
          <p:nvPr/>
        </p:nvSpPr>
        <p:spPr>
          <a:xfrm>
            <a:off x="667512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🐙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7"/>
          <p:cNvSpPr/>
          <p:nvPr/>
        </p:nvSpPr>
        <p:spPr>
          <a:xfrm>
            <a:off x="667512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 / GitHub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8"/>
          <p:cNvSpPr/>
          <p:nvPr/>
        </p:nvSpPr>
        <p:spPr>
          <a:xfrm>
            <a:off x="667512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Gestion de versions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et déploiement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39"/>
          <p:cNvSpPr/>
          <p:nvPr/>
        </p:nvSpPr>
        <p:spPr>
          <a:xfrm>
            <a:off x="923544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40"/>
          <p:cNvSpPr/>
          <p:nvPr/>
        </p:nvSpPr>
        <p:spPr>
          <a:xfrm>
            <a:off x="9235440" y="393192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41"/>
          <p:cNvSpPr/>
          <p:nvPr/>
        </p:nvSpPr>
        <p:spPr>
          <a:xfrm>
            <a:off x="950976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⚡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2"/>
          <p:cNvSpPr/>
          <p:nvPr/>
        </p:nvSpPr>
        <p:spPr>
          <a:xfrm>
            <a:off x="950976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XAMPP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43"/>
          <p:cNvSpPr/>
          <p:nvPr/>
        </p:nvSpPr>
        <p:spPr>
          <a:xfrm>
            <a:off x="950976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Apache + MySQL + PHP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environnement local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5. FONCTIONNALITÉS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914400" y="13716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🔐  Authentification &amp; Gestion des comptes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1371600" y="2103120"/>
            <a:ext cx="9143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Inscription avec validation (nom, email, mdp 8+ car.)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Hachage bcrypt (coût 12) — password_hash()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Connexion sécurisée avec régénération de session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Protection CSRF sur tous les formulaires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Comptes avec statut EN_ATTENTE → validation admin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Profil : modification infos + changement mot de passe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Rôles : UTILISATEUR / ADMINISTRATEUR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2"/>
          <p:cNvSpPr/>
          <p:nvPr/>
        </p:nvSpPr>
        <p:spPr>
          <a:xfrm>
            <a:off x="914400" y="4572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📊  Tableau de bord &amp; Graphiques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3"/>
          <p:cNvSpPr/>
          <p:nvPr/>
        </p:nvSpPr>
        <p:spPr>
          <a:xfrm>
            <a:off x="1371600" y="1645920"/>
            <a:ext cx="91436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4 KPIs : Revenus, Dépenses, Solde, Alertes actives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Graphique d'évolution : courbes revenus/dépenses (Chart.js line)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Graphique de répartition : donut par catégorie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Filtre de période : semaine / mois / année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Dernières transactions et budgets avec barres de progression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Bannières d'alertes en haut du tableau de bord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4"/>
          <p:cNvSpPr/>
          <p:nvPr/>
        </p:nvSpPr>
        <p:spPr>
          <a:xfrm>
            <a:off x="1097280" y="457200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5"/>
          <p:cNvSpPr/>
          <p:nvPr/>
        </p:nvSpPr>
        <p:spPr>
          <a:xfrm>
            <a:off x="1097280" y="4572000"/>
            <a:ext cx="2468520" cy="45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6"/>
          <p:cNvSpPr/>
          <p:nvPr/>
        </p:nvSpPr>
        <p:spPr>
          <a:xfrm>
            <a:off x="1371600" y="47548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Revenus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7"/>
          <p:cNvSpPr/>
          <p:nvPr/>
        </p:nvSpPr>
        <p:spPr>
          <a:xfrm>
            <a:off x="1371600" y="512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+ 120 000 DA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8"/>
          <p:cNvSpPr/>
          <p:nvPr/>
        </p:nvSpPr>
        <p:spPr>
          <a:xfrm>
            <a:off x="3840480" y="457200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9"/>
          <p:cNvSpPr/>
          <p:nvPr/>
        </p:nvSpPr>
        <p:spPr>
          <a:xfrm>
            <a:off x="3840480" y="4572000"/>
            <a:ext cx="2468520" cy="45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0"/>
          <p:cNvSpPr/>
          <p:nvPr/>
        </p:nvSpPr>
        <p:spPr>
          <a:xfrm>
            <a:off x="4114800" y="47548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Dépenses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1"/>
          <p:cNvSpPr/>
          <p:nvPr/>
        </p:nvSpPr>
        <p:spPr>
          <a:xfrm>
            <a:off x="4114800" y="512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- 85 000 DA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12"/>
          <p:cNvSpPr/>
          <p:nvPr/>
        </p:nvSpPr>
        <p:spPr>
          <a:xfrm>
            <a:off x="6583680" y="457200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ectangle 13"/>
          <p:cNvSpPr/>
          <p:nvPr/>
        </p:nvSpPr>
        <p:spPr>
          <a:xfrm>
            <a:off x="6583680" y="4572000"/>
            <a:ext cx="2468520" cy="45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14"/>
          <p:cNvSpPr/>
          <p:nvPr/>
        </p:nvSpPr>
        <p:spPr>
          <a:xfrm>
            <a:off x="6858000" y="47548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Solde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5"/>
          <p:cNvSpPr/>
          <p:nvPr/>
        </p:nvSpPr>
        <p:spPr>
          <a:xfrm>
            <a:off x="6858000" y="512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+ 35 000 DA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16"/>
          <p:cNvSpPr/>
          <p:nvPr/>
        </p:nvSpPr>
        <p:spPr>
          <a:xfrm>
            <a:off x="9326880" y="457200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ectangle 17"/>
          <p:cNvSpPr/>
          <p:nvPr/>
        </p:nvSpPr>
        <p:spPr>
          <a:xfrm>
            <a:off x="9326880" y="4572000"/>
            <a:ext cx="2468520" cy="45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8"/>
          <p:cNvSpPr/>
          <p:nvPr/>
        </p:nvSpPr>
        <p:spPr>
          <a:xfrm>
            <a:off x="9601200" y="47548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Alertes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9"/>
          <p:cNvSpPr/>
          <p:nvPr/>
        </p:nvSpPr>
        <p:spPr>
          <a:xfrm>
            <a:off x="9601200" y="512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 actives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2"/>
          <p:cNvSpPr/>
          <p:nvPr/>
        </p:nvSpPr>
        <p:spPr>
          <a:xfrm>
            <a:off x="914400" y="4572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💳  Transactions &amp; Budgets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"/>
          <p:cNvSpPr/>
          <p:nvPr/>
        </p:nvSpPr>
        <p:spPr>
          <a:xfrm>
            <a:off x="1371600" y="1371600"/>
            <a:ext cx="4571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CRUD complet des revenus et dépenses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Validation stricte (type, montant &gt; 0, date, catégorie)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Association à un budget → recalcul automatique du solde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Barre de progression colorée : &lt; 80% vert, 80-99% orange, ≥ 100% rouge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Budgets individuels (INDIVIDUEL) ou partagés (PARTAGE)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Invitation de membres par email avec token sécurisé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Plafonds par catégorie dans chaque budget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4"/>
          <p:cNvSpPr/>
          <p:nvPr/>
        </p:nvSpPr>
        <p:spPr>
          <a:xfrm>
            <a:off x="6400800" y="1371600"/>
            <a:ext cx="5028840" cy="3200040"/>
          </a:xfrm>
          <a:prstGeom prst="roundRect">
            <a:avLst>
              <a:gd name="adj" fmla="val 16667"/>
            </a:avLst>
          </a:prstGeom>
          <a:solidFill>
            <a:srgbClr val="1c2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5"/>
          <p:cNvSpPr/>
          <p:nvPr/>
        </p:nvSpPr>
        <p:spPr>
          <a:xfrm>
            <a:off x="6400800" y="1371600"/>
            <a:ext cx="5028840" cy="45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6"/>
          <p:cNvSpPr/>
          <p:nvPr/>
        </p:nvSpPr>
        <p:spPr>
          <a:xfrm>
            <a:off x="6675120" y="15544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Création d'un budget partagé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7"/>
          <p:cNvSpPr/>
          <p:nvPr/>
        </p:nvSpPr>
        <p:spPr>
          <a:xfrm>
            <a:off x="6675120" y="2011680"/>
            <a:ext cx="4571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public function creer(array $data, int $userId): array {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$id = $this-&gt;budgetDao-&gt;create(...);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$this-&gt;membreDao-&gt;addMembre($id, $userId, "PROPRIETAIRE", "");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if (!empty($data["emails_membres"])) {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  foreach (explode(",", $data["emails_membres"]) as $email) {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    $this-&gt;inviterMembre($id, trim($email), $userId);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  }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}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  return ["ok" =&gt; true, "budget_id" =&gt; $id];</a:t>
            </a:r>
            <a:br>
              <a:rPr sz="1000"/>
            </a:br>
            <a:r>
              <a:rPr b="0" lang="en-US" sz="10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}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"/>
          <p:cNvSpPr/>
          <p:nvPr/>
        </p:nvSpPr>
        <p:spPr>
          <a:xfrm>
            <a:off x="914400" y="4572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👥  Collaboratif &amp; 🔔  Alertes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3"/>
          <p:cNvSpPr/>
          <p:nvPr/>
        </p:nvSpPr>
        <p:spPr>
          <a:xfrm>
            <a:off x="731520" y="1371600"/>
            <a:ext cx="5303160" cy="47545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731520" y="1371600"/>
            <a:ext cx="5303160" cy="5436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1097280" y="1554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Fonctionnalités collaboratives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6"/>
          <p:cNvSpPr/>
          <p:nvPr/>
        </p:nvSpPr>
        <p:spPr>
          <a:xfrm>
            <a:off x="1097280" y="2103120"/>
            <a:ext cx="4571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Invitation par email depuis la création ou le détail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Badge avec compteur dans la sidebar et la topbar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Page /mes-invitations : Accepter / Refuser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Budgets partagés visibles par tous les membres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Rôles : PROPRIETAIRE (créateur) / MEMBRE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API GET /api/invitations/count pour le compteur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7"/>
          <p:cNvSpPr/>
          <p:nvPr/>
        </p:nvSpPr>
        <p:spPr>
          <a:xfrm>
            <a:off x="6400800" y="1371600"/>
            <a:ext cx="5303160" cy="47545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Rectangle 8"/>
          <p:cNvSpPr/>
          <p:nvPr/>
        </p:nvSpPr>
        <p:spPr>
          <a:xfrm>
            <a:off x="6400800" y="1371600"/>
            <a:ext cx="53031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9"/>
          <p:cNvSpPr/>
          <p:nvPr/>
        </p:nvSpPr>
        <p:spPr>
          <a:xfrm>
            <a:off x="6766560" y="1554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Système d'alertes automatiques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6766560" y="2103120"/>
            <a:ext cx="4571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Déclenché après chaque transaction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Seuil 80% → AVERTISSEMENT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Seuil 100% → CRITIQUE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Icône cloche avec badge dans l'en-tête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Marquage individuel ou "tout lire"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Bannières dans le tableau de bord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914400" y="4572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🛡️  Panneau d'administration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1371600" y="1645920"/>
            <a:ext cx="9143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Validation des comptes en attente (statut EN_ATTENTE → ACTIF)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Gestion des rôles (UTILISATEUR ↔ ADMINISTRATEUR)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Suspension / Réactivation / Suppression de comptes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Statistiques globales : utilisateurs, transactions, budgets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• Vue d'ensemble des budgets partagés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4"/>
          <p:cNvSpPr/>
          <p:nvPr/>
        </p:nvSpPr>
        <p:spPr>
          <a:xfrm>
            <a:off x="1097280" y="4114800"/>
            <a:ext cx="246852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5"/>
          <p:cNvSpPr/>
          <p:nvPr/>
        </p:nvSpPr>
        <p:spPr>
          <a:xfrm>
            <a:off x="1097280" y="4114800"/>
            <a:ext cx="246852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6"/>
          <p:cNvSpPr/>
          <p:nvPr/>
        </p:nvSpPr>
        <p:spPr>
          <a:xfrm>
            <a:off x="1371600" y="43891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👥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1371600" y="4846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Utilisateurs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8"/>
          <p:cNvSpPr/>
          <p:nvPr/>
        </p:nvSpPr>
        <p:spPr>
          <a:xfrm>
            <a:off x="1371600" y="52120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comptes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9"/>
          <p:cNvSpPr/>
          <p:nvPr/>
        </p:nvSpPr>
        <p:spPr>
          <a:xfrm>
            <a:off x="3840480" y="4114800"/>
            <a:ext cx="246852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10"/>
          <p:cNvSpPr/>
          <p:nvPr/>
        </p:nvSpPr>
        <p:spPr>
          <a:xfrm>
            <a:off x="3840480" y="4114800"/>
            <a:ext cx="246852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11"/>
          <p:cNvSpPr/>
          <p:nvPr/>
        </p:nvSpPr>
        <p:spPr>
          <a:xfrm>
            <a:off x="4114800" y="43891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💳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2"/>
          <p:cNvSpPr/>
          <p:nvPr/>
        </p:nvSpPr>
        <p:spPr>
          <a:xfrm>
            <a:off x="4114800" y="4846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Transactions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3"/>
          <p:cNvSpPr/>
          <p:nvPr/>
        </p:nvSpPr>
        <p:spPr>
          <a:xfrm>
            <a:off x="4114800" y="52120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opérations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14"/>
          <p:cNvSpPr/>
          <p:nvPr/>
        </p:nvSpPr>
        <p:spPr>
          <a:xfrm>
            <a:off x="6583680" y="4114800"/>
            <a:ext cx="246852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Rectangle 15"/>
          <p:cNvSpPr/>
          <p:nvPr/>
        </p:nvSpPr>
        <p:spPr>
          <a:xfrm>
            <a:off x="6583680" y="4114800"/>
            <a:ext cx="246852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6858000" y="43891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💰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6858000" y="4846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Budgets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6858000" y="52120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créés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19"/>
          <p:cNvSpPr/>
          <p:nvPr/>
        </p:nvSpPr>
        <p:spPr>
          <a:xfrm>
            <a:off x="9326880" y="4114800"/>
            <a:ext cx="2468520" cy="164556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20"/>
          <p:cNvSpPr/>
          <p:nvPr/>
        </p:nvSpPr>
        <p:spPr>
          <a:xfrm>
            <a:off x="9326880" y="4114800"/>
            <a:ext cx="246852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21"/>
          <p:cNvSpPr/>
          <p:nvPr/>
        </p:nvSpPr>
        <p:spPr>
          <a:xfrm>
            <a:off x="9601200" y="43891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📊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9601200" y="48463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Revenus/Dépenses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3"/>
          <p:cNvSpPr/>
          <p:nvPr/>
        </p:nvSpPr>
        <p:spPr>
          <a:xfrm>
            <a:off x="9601200" y="52120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globaux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6. SÉCURITÉ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Rounded Rectangle 4"/>
          <p:cNvSpPr/>
          <p:nvPr/>
        </p:nvSpPr>
        <p:spPr>
          <a:xfrm>
            <a:off x="91440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Rectangle 5"/>
          <p:cNvSpPr/>
          <p:nvPr/>
        </p:nvSpPr>
        <p:spPr>
          <a:xfrm>
            <a:off x="914400" y="155448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6"/>
          <p:cNvSpPr/>
          <p:nvPr/>
        </p:nvSpPr>
        <p:spPr>
          <a:xfrm>
            <a:off x="118872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🛡️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7"/>
          <p:cNvSpPr/>
          <p:nvPr/>
        </p:nvSpPr>
        <p:spPr>
          <a:xfrm>
            <a:off x="11887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Injection SQL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8"/>
          <p:cNvSpPr/>
          <p:nvPr/>
        </p:nvSpPr>
        <p:spPr>
          <a:xfrm>
            <a:off x="118872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100% PDO prepared statements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avec paramètres typés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9"/>
          <p:cNvSpPr/>
          <p:nvPr/>
        </p:nvSpPr>
        <p:spPr>
          <a:xfrm>
            <a:off x="457200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ectangle 10"/>
          <p:cNvSpPr/>
          <p:nvPr/>
        </p:nvSpPr>
        <p:spPr>
          <a:xfrm>
            <a:off x="4572000" y="1554480"/>
            <a:ext cx="347436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11"/>
          <p:cNvSpPr/>
          <p:nvPr/>
        </p:nvSpPr>
        <p:spPr>
          <a:xfrm>
            <a:off x="484632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🔒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2"/>
          <p:cNvSpPr/>
          <p:nvPr/>
        </p:nvSpPr>
        <p:spPr>
          <a:xfrm>
            <a:off x="48463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XSS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3"/>
          <p:cNvSpPr/>
          <p:nvPr/>
        </p:nvSpPr>
        <p:spPr>
          <a:xfrm>
            <a:off x="484632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htmlspecialchars() avec ENT_QUOTES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sur toutes les sorties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ounded Rectangle 14"/>
          <p:cNvSpPr/>
          <p:nvPr/>
        </p:nvSpPr>
        <p:spPr>
          <a:xfrm>
            <a:off x="822960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ectangle 15"/>
          <p:cNvSpPr/>
          <p:nvPr/>
        </p:nvSpPr>
        <p:spPr>
          <a:xfrm>
            <a:off x="8229600" y="155448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6"/>
          <p:cNvSpPr/>
          <p:nvPr/>
        </p:nvSpPr>
        <p:spPr>
          <a:xfrm>
            <a:off x="850392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🔑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7"/>
          <p:cNvSpPr/>
          <p:nvPr/>
        </p:nvSpPr>
        <p:spPr>
          <a:xfrm>
            <a:off x="85039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CSRF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8"/>
          <p:cNvSpPr/>
          <p:nvPr/>
        </p:nvSpPr>
        <p:spPr>
          <a:xfrm>
            <a:off x="850392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Token aléatoire (32 octets)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vérifié sur chaque requête POST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19"/>
          <p:cNvSpPr/>
          <p:nvPr/>
        </p:nvSpPr>
        <p:spPr>
          <a:xfrm>
            <a:off x="914400" y="3840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ectangle 20"/>
          <p:cNvSpPr/>
          <p:nvPr/>
        </p:nvSpPr>
        <p:spPr>
          <a:xfrm>
            <a:off x="914400" y="3840480"/>
            <a:ext cx="347436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21"/>
          <p:cNvSpPr/>
          <p:nvPr/>
        </p:nvSpPr>
        <p:spPr>
          <a:xfrm>
            <a:off x="1188720" y="4114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🔐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2"/>
          <p:cNvSpPr/>
          <p:nvPr/>
        </p:nvSpPr>
        <p:spPr>
          <a:xfrm>
            <a:off x="1188720" y="4663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Mots de passe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3"/>
          <p:cNvSpPr/>
          <p:nvPr/>
        </p:nvSpPr>
        <p:spPr>
          <a:xfrm>
            <a:off x="1188720" y="5120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bcrypt coût 12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password_hash / password_verify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24"/>
          <p:cNvSpPr/>
          <p:nvPr/>
        </p:nvSpPr>
        <p:spPr>
          <a:xfrm>
            <a:off x="4572000" y="3840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Rectangle 25"/>
          <p:cNvSpPr/>
          <p:nvPr/>
        </p:nvSpPr>
        <p:spPr>
          <a:xfrm>
            <a:off x="4572000" y="3840480"/>
            <a:ext cx="3474360" cy="54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26"/>
          <p:cNvSpPr/>
          <p:nvPr/>
        </p:nvSpPr>
        <p:spPr>
          <a:xfrm>
            <a:off x="4846320" y="4114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06464"/>
                </a:solidFill>
                <a:effectLst/>
                <a:uFillTx/>
                <a:latin typeface="Calibri"/>
              </a:rPr>
              <a:t>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7"/>
          <p:cNvSpPr/>
          <p:nvPr/>
        </p:nvSpPr>
        <p:spPr>
          <a:xfrm>
            <a:off x="4846320" y="4663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Sessions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8"/>
          <p:cNvSpPr/>
          <p:nvPr/>
        </p:nvSpPr>
        <p:spPr>
          <a:xfrm>
            <a:off x="4846320" y="5120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httponly, samesite=Lax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régénération après connexion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29"/>
          <p:cNvSpPr/>
          <p:nvPr/>
        </p:nvSpPr>
        <p:spPr>
          <a:xfrm>
            <a:off x="8229600" y="3840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Rectangle 30"/>
          <p:cNvSpPr/>
          <p:nvPr/>
        </p:nvSpPr>
        <p:spPr>
          <a:xfrm>
            <a:off x="8229600" y="3840480"/>
            <a:ext cx="3474360" cy="5436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31"/>
          <p:cNvSpPr/>
          <p:nvPr/>
        </p:nvSpPr>
        <p:spPr>
          <a:xfrm>
            <a:off x="8503920" y="4114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2dd4bf"/>
                </a:solidFill>
                <a:effectLst/>
                <a:uFillTx/>
                <a:latin typeface="Calibri"/>
              </a:rPr>
              <a:t>✅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2"/>
          <p:cNvSpPr/>
          <p:nvPr/>
        </p:nvSpPr>
        <p:spPr>
          <a:xfrm>
            <a:off x="8503920" y="4663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Validation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33"/>
          <p:cNvSpPr/>
          <p:nvPr/>
        </p:nvSpPr>
        <p:spPr>
          <a:xfrm>
            <a:off x="8503920" y="5120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Classe Validator dédiée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6 règles de validation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7. LIMITATIONS &amp; PERSPECTIVES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Rounded Rectangle 4"/>
          <p:cNvSpPr/>
          <p:nvPr/>
        </p:nvSpPr>
        <p:spPr>
          <a:xfrm>
            <a:off x="73152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 5"/>
          <p:cNvSpPr/>
          <p:nvPr/>
        </p:nvSpPr>
        <p:spPr>
          <a:xfrm>
            <a:off x="731520" y="1554480"/>
            <a:ext cx="3474360" cy="54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6"/>
          <p:cNvSpPr/>
          <p:nvPr/>
        </p:nvSpPr>
        <p:spPr>
          <a:xfrm>
            <a:off x="100584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06464"/>
                </a:solidFill>
                <a:effectLst/>
                <a:uFillTx/>
                <a:latin typeface="Calibri"/>
              </a:rPr>
              <a:t>🔔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7"/>
          <p:cNvSpPr/>
          <p:nvPr/>
        </p:nvSpPr>
        <p:spPr>
          <a:xfrm>
            <a:off x="100584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Service email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100584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PHPMailer pour notifications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et invitations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9"/>
          <p:cNvSpPr/>
          <p:nvPr/>
        </p:nvSpPr>
        <p:spPr>
          <a:xfrm>
            <a:off x="3017520" y="164592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0"/>
          <p:cNvSpPr/>
          <p:nvPr/>
        </p:nvSpPr>
        <p:spPr>
          <a:xfrm>
            <a:off x="3017520" y="16459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Haute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Rounded Rectangle 11"/>
          <p:cNvSpPr/>
          <p:nvPr/>
        </p:nvSpPr>
        <p:spPr>
          <a:xfrm>
            <a:off x="356616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ectangle 12"/>
          <p:cNvSpPr/>
          <p:nvPr/>
        </p:nvSpPr>
        <p:spPr>
          <a:xfrm>
            <a:off x="3566160" y="1554480"/>
            <a:ext cx="3474360" cy="54360"/>
          </a:xfrm>
          <a:prstGeom prst="rect">
            <a:avLst/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13"/>
          <p:cNvSpPr/>
          <p:nvPr/>
        </p:nvSpPr>
        <p:spPr>
          <a:xfrm>
            <a:off x="384048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06464"/>
                </a:solidFill>
                <a:effectLst/>
                <a:uFillTx/>
                <a:latin typeface="Calibri"/>
              </a:rPr>
              <a:t>🧪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4"/>
          <p:cNvSpPr/>
          <p:nvPr/>
        </p:nvSpPr>
        <p:spPr>
          <a:xfrm>
            <a:off x="384048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Tests automatisés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5"/>
          <p:cNvSpPr/>
          <p:nvPr/>
        </p:nvSpPr>
        <p:spPr>
          <a:xfrm>
            <a:off x="384048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PHPUnit pour services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et DAO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16"/>
          <p:cNvSpPr/>
          <p:nvPr/>
        </p:nvSpPr>
        <p:spPr>
          <a:xfrm>
            <a:off x="5852160" y="164592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f0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7"/>
          <p:cNvSpPr/>
          <p:nvPr/>
        </p:nvSpPr>
        <p:spPr>
          <a:xfrm>
            <a:off x="5852160" y="16459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Haute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18"/>
          <p:cNvSpPr/>
          <p:nvPr/>
        </p:nvSpPr>
        <p:spPr>
          <a:xfrm>
            <a:off x="640080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Rectangle 19"/>
          <p:cNvSpPr/>
          <p:nvPr/>
        </p:nvSpPr>
        <p:spPr>
          <a:xfrm>
            <a:off x="6400800" y="155448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20"/>
          <p:cNvSpPr/>
          <p:nvPr/>
        </p:nvSpPr>
        <p:spPr>
          <a:xfrm>
            <a:off x="667512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📄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1"/>
          <p:cNvSpPr/>
          <p:nvPr/>
        </p:nvSpPr>
        <p:spPr>
          <a:xfrm>
            <a:off x="66751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Export PDF/CSV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22"/>
          <p:cNvSpPr/>
          <p:nvPr/>
        </p:nvSpPr>
        <p:spPr>
          <a:xfrm>
            <a:off x="667512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Export des transactions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et rapports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23"/>
          <p:cNvSpPr/>
          <p:nvPr/>
        </p:nvSpPr>
        <p:spPr>
          <a:xfrm>
            <a:off x="8686800" y="164592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24"/>
          <p:cNvSpPr/>
          <p:nvPr/>
        </p:nvSpPr>
        <p:spPr>
          <a:xfrm>
            <a:off x="8686800" y="16459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Moyenne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25"/>
          <p:cNvSpPr/>
          <p:nvPr/>
        </p:nvSpPr>
        <p:spPr>
          <a:xfrm>
            <a:off x="923544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26"/>
          <p:cNvSpPr/>
          <p:nvPr/>
        </p:nvSpPr>
        <p:spPr>
          <a:xfrm>
            <a:off x="9235440" y="155448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27"/>
          <p:cNvSpPr/>
          <p:nvPr/>
        </p:nvSpPr>
        <p:spPr>
          <a:xfrm>
            <a:off x="950976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🎯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8"/>
          <p:cNvSpPr/>
          <p:nvPr/>
        </p:nvSpPr>
        <p:spPr>
          <a:xfrm>
            <a:off x="950976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Objectifs financiers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9"/>
          <p:cNvSpPr/>
          <p:nvPr/>
        </p:nvSpPr>
        <p:spPr>
          <a:xfrm>
            <a:off x="950976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Module d'épargne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avec suivi visuel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30"/>
          <p:cNvSpPr/>
          <p:nvPr/>
        </p:nvSpPr>
        <p:spPr>
          <a:xfrm>
            <a:off x="11521440" y="164592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31"/>
          <p:cNvSpPr/>
          <p:nvPr/>
        </p:nvSpPr>
        <p:spPr>
          <a:xfrm>
            <a:off x="11521440" y="16459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Moyenne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32"/>
          <p:cNvSpPr/>
          <p:nvPr/>
        </p:nvSpPr>
        <p:spPr>
          <a:xfrm>
            <a:off x="73152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ectangle 33"/>
          <p:cNvSpPr/>
          <p:nvPr/>
        </p:nvSpPr>
        <p:spPr>
          <a:xfrm>
            <a:off x="731520" y="393192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34"/>
          <p:cNvSpPr/>
          <p:nvPr/>
        </p:nvSpPr>
        <p:spPr>
          <a:xfrm>
            <a:off x="100584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📱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35"/>
          <p:cNvSpPr/>
          <p:nvPr/>
        </p:nvSpPr>
        <p:spPr>
          <a:xfrm>
            <a:off x="100584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API REST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6"/>
          <p:cNvSpPr/>
          <p:nvPr/>
        </p:nvSpPr>
        <p:spPr>
          <a:xfrm>
            <a:off x="100584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JWT pour application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mobile native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37"/>
          <p:cNvSpPr/>
          <p:nvPr/>
        </p:nvSpPr>
        <p:spPr>
          <a:xfrm>
            <a:off x="3017520" y="402336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38"/>
          <p:cNvSpPr/>
          <p:nvPr/>
        </p:nvSpPr>
        <p:spPr>
          <a:xfrm>
            <a:off x="3017520" y="40233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Basse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39"/>
          <p:cNvSpPr/>
          <p:nvPr/>
        </p:nvSpPr>
        <p:spPr>
          <a:xfrm>
            <a:off x="356616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 40"/>
          <p:cNvSpPr/>
          <p:nvPr/>
        </p:nvSpPr>
        <p:spPr>
          <a:xfrm>
            <a:off x="3566160" y="393192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41"/>
          <p:cNvSpPr/>
          <p:nvPr/>
        </p:nvSpPr>
        <p:spPr>
          <a:xfrm>
            <a:off x="384048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⚡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42"/>
          <p:cNvSpPr/>
          <p:nvPr/>
        </p:nvSpPr>
        <p:spPr>
          <a:xfrm>
            <a:off x="384048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WebSockets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43"/>
          <p:cNvSpPr/>
          <p:nvPr/>
        </p:nvSpPr>
        <p:spPr>
          <a:xfrm>
            <a:off x="384048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Notifications en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temps réel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44"/>
          <p:cNvSpPr/>
          <p:nvPr/>
        </p:nvSpPr>
        <p:spPr>
          <a:xfrm>
            <a:off x="5852160" y="402336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Box 45"/>
          <p:cNvSpPr/>
          <p:nvPr/>
        </p:nvSpPr>
        <p:spPr>
          <a:xfrm>
            <a:off x="5852160" y="40233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Basse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ounded Rectangle 46"/>
          <p:cNvSpPr/>
          <p:nvPr/>
        </p:nvSpPr>
        <p:spPr>
          <a:xfrm>
            <a:off x="640080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Rectangle 47"/>
          <p:cNvSpPr/>
          <p:nvPr/>
        </p:nvSpPr>
        <p:spPr>
          <a:xfrm>
            <a:off x="6400800" y="393192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48"/>
          <p:cNvSpPr/>
          <p:nvPr/>
        </p:nvSpPr>
        <p:spPr>
          <a:xfrm>
            <a:off x="667512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🔐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49"/>
          <p:cNvSpPr/>
          <p:nvPr/>
        </p:nvSpPr>
        <p:spPr>
          <a:xfrm>
            <a:off x="667512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2FA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50"/>
          <p:cNvSpPr/>
          <p:nvPr/>
        </p:nvSpPr>
        <p:spPr>
          <a:xfrm>
            <a:off x="667512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Authentification à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deux facteurs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Rounded Rectangle 51"/>
          <p:cNvSpPr/>
          <p:nvPr/>
        </p:nvSpPr>
        <p:spPr>
          <a:xfrm>
            <a:off x="8686800" y="402336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52"/>
          <p:cNvSpPr/>
          <p:nvPr/>
        </p:nvSpPr>
        <p:spPr>
          <a:xfrm>
            <a:off x="8686800" y="40233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Basse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ounded Rectangle 53"/>
          <p:cNvSpPr/>
          <p:nvPr/>
        </p:nvSpPr>
        <p:spPr>
          <a:xfrm>
            <a:off x="9235440" y="39319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Rectangle 54"/>
          <p:cNvSpPr/>
          <p:nvPr/>
        </p:nvSpPr>
        <p:spPr>
          <a:xfrm>
            <a:off x="9235440" y="393192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55"/>
          <p:cNvSpPr/>
          <p:nvPr/>
        </p:nvSpPr>
        <p:spPr>
          <a:xfrm>
            <a:off x="9509760" y="42062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📑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56"/>
          <p:cNvSpPr/>
          <p:nvPr/>
        </p:nvSpPr>
        <p:spPr>
          <a:xfrm>
            <a:off x="9509760" y="4754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Pagination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57"/>
          <p:cNvSpPr/>
          <p:nvPr/>
        </p:nvSpPr>
        <p:spPr>
          <a:xfrm>
            <a:off x="9509760" y="52120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Filtres combinés et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recherche textuelle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Rounded Rectangle 58"/>
          <p:cNvSpPr/>
          <p:nvPr/>
        </p:nvSpPr>
        <p:spPr>
          <a:xfrm>
            <a:off x="11521440" y="4023360"/>
            <a:ext cx="1096920" cy="319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59"/>
          <p:cNvSpPr/>
          <p:nvPr/>
        </p:nvSpPr>
        <p:spPr>
          <a:xfrm>
            <a:off x="11521440" y="40233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Moyenne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2"/>
          <p:cNvSpPr/>
          <p:nvPr/>
        </p:nvSpPr>
        <p:spPr>
          <a:xfrm>
            <a:off x="91440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8. CONCLUSION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3"/>
          <p:cNvSpPr/>
          <p:nvPr/>
        </p:nvSpPr>
        <p:spPr>
          <a:xfrm>
            <a:off x="914400" y="1097280"/>
            <a:ext cx="2742840" cy="36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Rounded Rectangle 4"/>
          <p:cNvSpPr/>
          <p:nvPr/>
        </p:nvSpPr>
        <p:spPr>
          <a:xfrm>
            <a:off x="73152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Rectangle 5"/>
          <p:cNvSpPr/>
          <p:nvPr/>
        </p:nvSpPr>
        <p:spPr>
          <a:xfrm>
            <a:off x="731520" y="1554480"/>
            <a:ext cx="34743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100584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7"/>
          <p:cNvSpPr/>
          <p:nvPr/>
        </p:nvSpPr>
        <p:spPr>
          <a:xfrm>
            <a:off x="100584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Architecture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8"/>
          <p:cNvSpPr/>
          <p:nvPr/>
        </p:nvSpPr>
        <p:spPr>
          <a:xfrm>
            <a:off x="100584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MVC 3 couches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DAO + Service + Controller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PHP orienté objet sans framework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9"/>
          <p:cNvSpPr/>
          <p:nvPr/>
        </p:nvSpPr>
        <p:spPr>
          <a:xfrm>
            <a:off x="356616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Rectangle 10"/>
          <p:cNvSpPr/>
          <p:nvPr/>
        </p:nvSpPr>
        <p:spPr>
          <a:xfrm>
            <a:off x="3566160" y="1554480"/>
            <a:ext cx="3474360" cy="54360"/>
          </a:xfrm>
          <a:prstGeom prst="rect">
            <a:avLst/>
          </a:prstGeom>
          <a:solidFill>
            <a:srgbClr val="3dd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11"/>
          <p:cNvSpPr/>
          <p:nvPr/>
        </p:nvSpPr>
        <p:spPr>
          <a:xfrm>
            <a:off x="384048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dd68c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2"/>
          <p:cNvSpPr/>
          <p:nvPr/>
        </p:nvSpPr>
        <p:spPr>
          <a:xfrm>
            <a:off x="384048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Sécurité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384048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Préparations SQL, XSS,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CSRF, bcrypt, sessions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sécurisées, validation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Rounded Rectangle 14"/>
          <p:cNvSpPr/>
          <p:nvPr/>
        </p:nvSpPr>
        <p:spPr>
          <a:xfrm>
            <a:off x="640080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Rectangle 15"/>
          <p:cNvSpPr/>
          <p:nvPr/>
        </p:nvSpPr>
        <p:spPr>
          <a:xfrm>
            <a:off x="6400800" y="1554480"/>
            <a:ext cx="3474360" cy="543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16"/>
          <p:cNvSpPr/>
          <p:nvPr/>
        </p:nvSpPr>
        <p:spPr>
          <a:xfrm>
            <a:off x="667512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a623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667512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Collaboratif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667512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Invitations, budgets partagés,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alertes automatiques,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badges notifications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Rounded Rectangle 19"/>
          <p:cNvSpPr/>
          <p:nvPr/>
        </p:nvSpPr>
        <p:spPr>
          <a:xfrm>
            <a:off x="9235440" y="155448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Rectangle 20"/>
          <p:cNvSpPr/>
          <p:nvPr/>
        </p:nvSpPr>
        <p:spPr>
          <a:xfrm>
            <a:off x="9235440" y="1554480"/>
            <a:ext cx="3474360" cy="5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9509760" y="1828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✓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2"/>
          <p:cNvSpPr/>
          <p:nvPr/>
        </p:nvSpPr>
        <p:spPr>
          <a:xfrm>
            <a:off x="9509760" y="2377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Fonctionnel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3"/>
          <p:cNvSpPr/>
          <p:nvPr/>
        </p:nvSpPr>
        <p:spPr>
          <a:xfrm>
            <a:off x="950976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7 contrôleurs, 6 services,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6 DAO, 7 tables,</a:t>
            </a:r>
            <a:br>
              <a:rPr sz="1200"/>
            </a:br>
            <a:r>
              <a:rPr b="0" lang="en-US" sz="12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22 routes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Rounded Rectangle 24"/>
          <p:cNvSpPr/>
          <p:nvPr/>
        </p:nvSpPr>
        <p:spPr>
          <a:xfrm>
            <a:off x="1371600" y="4389120"/>
            <a:ext cx="9417960" cy="1371240"/>
          </a:xfrm>
          <a:prstGeom prst="roundRect">
            <a:avLst>
              <a:gd name="adj" fmla="val 16667"/>
            </a:avLst>
          </a:prstGeom>
          <a:solidFill>
            <a:srgbClr val="15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Rectangle 25"/>
          <p:cNvSpPr/>
          <p:nvPr/>
        </p:nvSpPr>
        <p:spPr>
          <a:xfrm>
            <a:off x="1371600" y="4389120"/>
            <a:ext cx="941796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26"/>
          <p:cNvSpPr/>
          <p:nvPr/>
        </p:nvSpPr>
        <p:spPr>
          <a:xfrm>
            <a:off x="1828800" y="457200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BudgetCollab : une application aboutie alliant rigueur architecturale,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27"/>
          <p:cNvSpPr/>
          <p:nvPr/>
        </p:nvSpPr>
        <p:spPr>
          <a:xfrm>
            <a:off x="1828800" y="502920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e8eaf2"/>
                </a:solidFill>
                <a:effectLst/>
                <a:uFillTx/>
                <a:latin typeface="Calibri"/>
              </a:rPr>
              <a:t>qualité de code, sécurité et expérience utilisateur.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0" y="2743200"/>
            <a:ext cx="12191400" cy="54360"/>
          </a:xfrm>
          <a:prstGeom prst="rect">
            <a:avLst/>
          </a:prstGeom>
          <a:solidFill>
            <a:srgbClr val="4f9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Box 2"/>
          <p:cNvSpPr/>
          <p:nvPr/>
        </p:nvSpPr>
        <p:spPr>
          <a:xfrm>
            <a:off x="914400" y="18288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Merci de votre attention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3"/>
          <p:cNvSpPr/>
          <p:nvPr/>
        </p:nvSpPr>
        <p:spPr>
          <a:xfrm>
            <a:off x="914400" y="32004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4f9eff"/>
                </a:solidFill>
                <a:effectLst/>
                <a:uFillTx/>
                <a:latin typeface="Calibri"/>
              </a:rPr>
              <a:t>Des questions 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4"/>
          <p:cNvSpPr/>
          <p:nvPr/>
        </p:nvSpPr>
        <p:spPr>
          <a:xfrm>
            <a:off x="914400" y="4572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8a93b0"/>
                </a:solidFill>
                <a:effectLst/>
                <a:uFillTx/>
                <a:latin typeface="Calibri"/>
              </a:rPr>
              <a:t>github.com/Mooataz/budget_app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2026-05-29T16:51:19Z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